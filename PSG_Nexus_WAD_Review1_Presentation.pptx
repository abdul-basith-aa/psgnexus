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94B"/>
          </a:solidFill>
          <a:ln>
            <a:solidFill>
              <a:srgbClr val="1B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9784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B4BAB"/>
                </a:solidFill>
                <a:latin typeface="Arial"/>
              </a:defRPr>
            </a:pPr>
            <a:r>
              <a:t>PSG COLLEGE OF TECHNOLOGY, COIMBATORE - 641 004</a:t>
            </a:r>
          </a:p>
          <a:p>
            <a:pPr algn="ctr">
              <a:defRPr sz="1100" b="1">
                <a:solidFill>
                  <a:srgbClr val="6C757D"/>
                </a:solidFill>
                <a:latin typeface="Arial"/>
              </a:defRPr>
            </a:pPr>
            <a:r>
              <a:t>DEPARTMENT OF COMPUTER APPLICATIONS • 26MX17 WEB APPLICATION DEVELOPMENT</a:t>
            </a:r>
          </a:p>
          <a:p>
            <a:pPr algn="ctr">
              <a:defRPr sz="3200" b="1">
                <a:solidFill>
                  <a:srgbClr val="1B294B"/>
                </a:solidFill>
                <a:latin typeface="Arial"/>
              </a:defRPr>
            </a:pPr>
            <a:br/>
            <a:r>
              <a:t>PSG NEXUS (CHAT-BOT)</a:t>
            </a:r>
          </a:p>
          <a:p>
            <a:pPr algn="ctr">
              <a:defRPr sz="1400" b="1">
                <a:solidFill>
                  <a:srgbClr val="C5A059"/>
                </a:solidFill>
                <a:latin typeface="Arial"/>
              </a:defRPr>
            </a:pPr>
            <a:r>
              <a:t>Intelligent Role-Based Campus Digital Assistant &amp; Navigation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93192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B4BAB"/>
                </a:solidFill>
                <a:latin typeface="Arial"/>
              </a:defRPr>
            </a:pPr>
            <a:r>
              <a:t>PROJECT GUIDE:</a:t>
            </a:r>
          </a:p>
          <a:p>
            <a:pPr>
              <a:defRPr sz="1100">
                <a:solidFill>
                  <a:srgbClr val="212529"/>
                </a:solidFill>
                <a:latin typeface="Arial"/>
              </a:defRPr>
            </a:pPr>
            <a:r>
              <a:t>Ms. J. GOWRI THANGAM</a:t>
            </a:r>
            <a:br/>
            <a:r>
              <a:t>Assistant Professor</a:t>
            </a:r>
            <a:br/>
            <a:r>
              <a:t>Department of Computer Applications</a:t>
            </a:r>
            <a:br/>
            <a:r>
              <a:t>PSG College of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3931920"/>
            <a:ext cx="4389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B4BAB"/>
                </a:solidFill>
                <a:latin typeface="Arial"/>
              </a:defRPr>
            </a:pPr>
            <a:r>
              <a:t>TEAM MEMBERS (TEAM 1):</a:t>
            </a:r>
          </a:p>
          <a:p>
            <a:pPr>
              <a:defRPr sz="1150" b="1">
                <a:solidFill>
                  <a:srgbClr val="1B294B"/>
                </a:solidFill>
                <a:latin typeface="Arial"/>
              </a:defRPr>
            </a:pPr>
            <a:r>
              <a:t>• LAXMAN B (26MX209)</a:t>
            </a:r>
            <a:br/>
            <a:r>
              <a:t>• KARTHIKEYAN S (26MX110)</a:t>
            </a:r>
            <a:br/>
            <a:r>
              <a:t>• MOHAMED ABDUL BASITH A A (26MX115)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94B"/>
          </a:solidFill>
          <a:ln w="317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5A059"/>
                </a:solidFill>
                <a:latin typeface="Arial"/>
              </a:defRPr>
            </a:pPr>
            <a:r>
              <a:t>PSG COLLEGE OF TECHNOLOGY • DEPARTMENT OF COMPUTER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Acknowledgement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94B"/>
          </a:solidFill>
          <a:ln>
            <a:solidFill>
              <a:srgbClr val="1B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26MX17 WEB APPLICATION DEVELOPMENT • REVIEW 1 • TEAM 1 (PSG NEXUS)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362895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200"/>
              </a:spcBef>
              <a:defRPr sz="1500" b="1">
                <a:solidFill>
                  <a:srgbClr val="2B4BAB"/>
                </a:solidFill>
                <a:latin typeface="Arial"/>
              </a:defRPr>
            </a:pPr>
            <a:r>
              <a:t>• Dr. N. ILAYARAJA</a:t>
            </a:r>
          </a:p>
          <a:p>
            <a:pPr>
              <a:defRPr sz="1250">
                <a:solidFill>
                  <a:srgbClr val="212529"/>
                </a:solidFill>
                <a:latin typeface="Arial"/>
              </a:defRPr>
            </a:pPr>
            <a:r>
              <a:t>  Head of the Department, Department of Computer Applications, for providing overall guidance, institutional facilities, and motivation.</a:t>
            </a:r>
          </a:p>
          <a:p>
            <a:pPr>
              <a:spcBef>
                <a:spcPts val="1200"/>
              </a:spcBef>
              <a:defRPr sz="1500" b="1">
                <a:solidFill>
                  <a:srgbClr val="2B4BAB"/>
                </a:solidFill>
                <a:latin typeface="Arial"/>
              </a:defRPr>
            </a:pPr>
            <a:r>
              <a:t>• Ms. A. KALYANI</a:t>
            </a:r>
          </a:p>
          <a:p>
            <a:pPr>
              <a:defRPr sz="1250">
                <a:solidFill>
                  <a:srgbClr val="212529"/>
                </a:solidFill>
                <a:latin typeface="Arial"/>
              </a:defRPr>
            </a:pPr>
            <a:r>
              <a:t>  MCA Programme Coordinator &amp; Course Coordinator (26MX17 WAD), for curriculum structure, continuous monitoring, and valuable review instructions.</a:t>
            </a:r>
          </a:p>
          <a:p>
            <a:pPr>
              <a:spcBef>
                <a:spcPts val="1200"/>
              </a:spcBef>
              <a:defRPr sz="1500" b="1">
                <a:solidFill>
                  <a:srgbClr val="2B4BAB"/>
                </a:solidFill>
                <a:latin typeface="Arial"/>
              </a:defRPr>
            </a:pPr>
            <a:r>
              <a:t>• Ms. J. GOWRI THANGAM</a:t>
            </a:r>
          </a:p>
          <a:p>
            <a:pPr>
              <a:defRPr sz="1250">
                <a:solidFill>
                  <a:srgbClr val="212529"/>
                </a:solidFill>
                <a:latin typeface="Arial"/>
              </a:defRPr>
            </a:pPr>
            <a:r>
              <a:t>  Faculty Project Guide, for consistent technical feedback, review dairy verification, and architecture suggestions.</a:t>
            </a:r>
          </a:p>
          <a:p>
            <a:pPr>
              <a:spcBef>
                <a:spcPts val="1200"/>
              </a:spcBef>
              <a:defRPr sz="1500" b="1">
                <a:solidFill>
                  <a:srgbClr val="2B4BAB"/>
                </a:solidFill>
                <a:latin typeface="Arial"/>
              </a:defRPr>
            </a:pPr>
            <a:r>
              <a:t>• FACULTY REVIEW PANEL</a:t>
            </a:r>
          </a:p>
          <a:p>
            <a:pPr>
              <a:defRPr sz="1250">
                <a:solidFill>
                  <a:srgbClr val="212529"/>
                </a:solidFill>
                <a:latin typeface="Arial"/>
              </a:defRPr>
            </a:pPr>
            <a:r>
              <a:t>  Review Panel Members and Department Faculty, for evaluating our Review 1 deliverables and providing constructive suggestions for project enhancement.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94B"/>
          </a:solidFill>
          <a:ln w="317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5A059"/>
                </a:solidFill>
                <a:latin typeface="Arial"/>
              </a:defRPr>
            </a:pPr>
            <a:r>
              <a:t>PSG COLLEGE OF TECHNOLOGY • DEPARTMENT OF COMPUTER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94B"/>
          </a:solidFill>
          <a:ln>
            <a:solidFill>
              <a:srgbClr val="1B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26MX17 WEB APPLICATION DEVELOPMENT • REVIEW 1 • TEAM 1 (PSG NEXUS)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362895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400"/>
              </a:spcBef>
              <a:defRPr sz="1400">
                <a:solidFill>
                  <a:srgbClr val="212529"/>
                </a:solidFill>
                <a:latin typeface="Arial"/>
              </a:defRPr>
            </a:pPr>
            <a:r>
              <a:t>• Interactive Digital Campus Assistant: Seamlessly integrated as an interactive widget on the PSG College website.</a:t>
            </a:r>
          </a:p>
          <a:p>
            <a:pPr>
              <a:spcBef>
                <a:spcPts val="1400"/>
              </a:spcBef>
              <a:defRPr sz="1400">
                <a:solidFill>
                  <a:srgbClr val="212529"/>
                </a:solidFill>
                <a:latin typeface="Arial"/>
              </a:defRPr>
            </a:pPr>
            <a:r>
              <a:t>• Unified Single-Point Guide: Delivers fast information across syllabi, departments, admissions, fees, hostel rules, and forms.</a:t>
            </a:r>
          </a:p>
          <a:p>
            <a:pPr>
              <a:spcBef>
                <a:spcPts val="1400"/>
              </a:spcBef>
              <a:defRPr sz="1400">
                <a:solidFill>
                  <a:srgbClr val="212529"/>
                </a:solidFill>
                <a:latin typeface="Arial"/>
              </a:defRPr>
            </a:pPr>
            <a:r>
              <a:t>• Persistent In-Browser Session: Chatbot remains active and remembers conversation history across page navigation using browser sessionStorage.</a:t>
            </a:r>
          </a:p>
          <a:p>
            <a:pPr>
              <a:spcBef>
                <a:spcPts val="1400"/>
              </a:spcBef>
              <a:defRPr sz="1400">
                <a:solidFill>
                  <a:srgbClr val="212529"/>
                </a:solidFill>
                <a:latin typeface="Arial"/>
              </a:defRPr>
            </a:pPr>
            <a:r>
              <a:t>• Intelligent Autonomous Page Redirection: Automatically navigates users to target pages (e.g., from Home to Online Forms Portal) without resetting the chat.</a:t>
            </a:r>
          </a:p>
          <a:p>
            <a:pPr>
              <a:spcBef>
                <a:spcPts val="1400"/>
              </a:spcBef>
              <a:defRPr sz="1400">
                <a:solidFill>
                  <a:srgbClr val="212529"/>
                </a:solidFill>
                <a:latin typeface="Arial"/>
              </a:defRPr>
            </a:pPr>
            <a:r>
              <a:t>• Role-Based Access Control (RBAC): Provides tailored assistance for Students, Faculty, Parents, and Visitors while protecting confidential staff records.</a:t>
            </a:r>
          </a:p>
          <a:p>
            <a:pPr>
              <a:spcBef>
                <a:spcPts val="1400"/>
              </a:spcBef>
              <a:defRPr sz="1400">
                <a:solidFill>
                  <a:srgbClr val="212529"/>
                </a:solidFill>
                <a:latin typeface="Arial"/>
              </a:defRPr>
            </a:pPr>
            <a:r>
              <a:t>• Local Database Persistence: Automatically stores user queries, responses, and roles in local MongoDB Compass (psgnexus_db.conversations) for campus analytics.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94B"/>
          </a:solidFill>
          <a:ln w="317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5A059"/>
                </a:solidFill>
                <a:latin typeface="Arial"/>
              </a:defRPr>
            </a:pPr>
            <a:r>
              <a:t>PSG COLLEGE OF TECHNOLOGY • DEPARTMENT OF COMPUTER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Analysis of the Existing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94B"/>
          </a:solidFill>
          <a:ln>
            <a:solidFill>
              <a:srgbClr val="1B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26MX17 WEB APPLICATION DEVELOPMENT • REVIEW 1 • TEAM 1 (PSG NEXUS)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2B4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B4BAB"/>
                </a:solidFill>
                <a:latin typeface="Arial"/>
              </a:defRPr>
            </a:pPr>
            <a:r>
              <a:t>EXISTING SYSTEM FEATURES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• Central Information Hub: Publishes circulars, department news, tenders, and events (psgtech.edu).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• Transactional Student Services: Studzone portal allows viewing internal marks and fee payment challans.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• Traditional Menu Navigation: Organized into multi-level dropdown menus and external PDF links.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• Static FAQ &amp; Contact Forms: General contact numbers and grievance emails.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5F5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47548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82333"/>
                </a:solidFill>
                <a:latin typeface="Arial"/>
              </a:defRPr>
            </a:pPr>
            <a:r>
              <a:t>IDENTIFIED MISSING FEATURES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• No Conversational Assistance: Lacks an interactive virtual guide to immediately answer repetitive queries.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• High Information Retrieval Latency: Students must search across multiple sub-pages to locate rules (75% attendance, CAT marks).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• Zero Automated Navigation: Cannot redirect users directly to relevant online forms or syllabus repositories.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• Lack of Cross-Page Continuity: Conventional forms or widgets reset upon clicking another page link.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• Absence of Role-Based Security: Anyone sees static links, but no contextual filtering exists for visitors vs faculty.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94B"/>
          </a:solidFill>
          <a:ln w="317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5A059"/>
                </a:solidFill>
                <a:latin typeface="Arial"/>
              </a:defRPr>
            </a:pPr>
            <a:r>
              <a:t>PSG COLLEGE OF TECHNOLOGY • DEPARTMENT OF COMPUTER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Literature Survey of the Existing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94B"/>
          </a:solidFill>
          <a:ln>
            <a:solidFill>
              <a:srgbClr val="1B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26MX17 WEB APPLICATION DEVELOPMENT • REVIEW 1 • TEAM 1 (PSG NEXUS)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800"/>
              </a:spcBef>
              <a:defRPr sz="1350" b="1">
                <a:solidFill>
                  <a:srgbClr val="2B4BAB"/>
                </a:solidFill>
                <a:latin typeface="Arial"/>
              </a:defRPr>
            </a:pPr>
            <a:r>
              <a:t>• 1. Official Institutional Portals (e.g., psgtech.edu)</a:t>
            </a:r>
          </a:p>
          <a:p>
            <a:pPr>
              <a:defRPr sz="1150">
                <a:solidFill>
                  <a:srgbClr val="212529"/>
                </a:solidFill>
                <a:latin typeface="Arial"/>
              </a:defRPr>
            </a:pPr>
            <a:r>
              <a:t>   Standard university websites provide comprehensive information but rely strictly on static hierarchical menus. Studies show students spend substantial time navigating sub-domains to locate routine circulars and syllabus copies.</a:t>
            </a:r>
          </a:p>
          <a:p>
            <a:pPr>
              <a:spcBef>
                <a:spcPts val="800"/>
              </a:spcBef>
              <a:defRPr sz="1350" b="1">
                <a:solidFill>
                  <a:srgbClr val="2B4BAB"/>
                </a:solidFill>
                <a:latin typeface="Arial"/>
              </a:defRPr>
            </a:pPr>
            <a:r>
              <a:t>• 2. Standalone Chatbot Systems in Higher Education</a:t>
            </a:r>
          </a:p>
          <a:p>
            <a:pPr>
              <a:defRPr sz="1150">
                <a:solidFill>
                  <a:srgbClr val="212529"/>
                </a:solidFill>
                <a:latin typeface="Arial"/>
              </a:defRPr>
            </a:pPr>
            <a:r>
              <a:t>   Existing higher education chatbots function mostly as isolated popups on single landing pages. When a user clicks an internal link, the chat context resets, causing communication drop-off and frustration.</a:t>
            </a:r>
          </a:p>
          <a:p>
            <a:pPr>
              <a:spcBef>
                <a:spcPts val="800"/>
              </a:spcBef>
              <a:defRPr sz="1350" b="1">
                <a:solidFill>
                  <a:srgbClr val="2B4BAB"/>
                </a:solidFill>
                <a:latin typeface="Arial"/>
              </a:defRPr>
            </a:pPr>
            <a:r>
              <a:t>• 3. Traditional Contact Forms &amp; Static FAQs</a:t>
            </a:r>
          </a:p>
          <a:p>
            <a:pPr>
              <a:defRPr sz="1150">
                <a:solidFill>
                  <a:srgbClr val="212529"/>
                </a:solidFill>
                <a:latin typeface="Arial"/>
              </a:defRPr>
            </a:pPr>
            <a:r>
              <a:t>   Static FAQ pages fail to address user queries dynamically, and 'Contact Us' forms suffer from delayed response times (24-48 hours) for common procedural questions.</a:t>
            </a:r>
          </a:p>
          <a:p>
            <a:pPr>
              <a:spcBef>
                <a:spcPts val="800"/>
              </a:spcBef>
              <a:defRPr sz="1350" b="1">
                <a:solidFill>
                  <a:srgbClr val="2B4BAB"/>
                </a:solidFill>
                <a:latin typeface="Arial"/>
              </a:defRPr>
            </a:pPr>
            <a:r>
              <a:t>• 4. The Proposed PSG Nexus Approach</a:t>
            </a:r>
          </a:p>
          <a:p>
            <a:pPr>
              <a:defRPr sz="1150">
                <a:solidFill>
                  <a:srgbClr val="212529"/>
                </a:solidFill>
                <a:latin typeface="Arial"/>
              </a:defRPr>
            </a:pPr>
            <a:r>
              <a:t>   Combines a responsive college portal replica with a persistent, bottom-left AI assistant using client-side sessionStorage, automated page redirection, and role-governed document security.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94B"/>
          </a:solidFill>
          <a:ln w="317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5A059"/>
                </a:solidFill>
                <a:latin typeface="Arial"/>
              </a:defRPr>
            </a:pPr>
            <a:r>
              <a:t>PSG COLLEGE OF TECHNOLOGY • DEPARTMENT OF COMPUTER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Tools and Technologies to be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94B"/>
          </a:solidFill>
          <a:ln>
            <a:solidFill>
              <a:srgbClr val="1B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26MX17 WEB APPLICATION DEVELOPMENT • REVIEW 1 • TEAM 1 (PSG NEXUS)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698480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B4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10332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B4BAB"/>
                </a:solidFill>
                <a:latin typeface="Arial"/>
              </a:defRPr>
            </a:pPr>
            <a:r>
              <a:t>FRONTEND &amp; CLIENT UI:  HTML5, CSS3, JavaScript (ES6), Bootstrap 5.3</a:t>
            </a:r>
          </a:p>
          <a:p>
            <a:pPr>
              <a:defRPr sz="1050">
                <a:solidFill>
                  <a:srgbClr val="212529"/>
                </a:solidFill>
                <a:latin typeface="Arial"/>
              </a:defRPr>
            </a:pPr>
            <a:r>
              <a:t>• Responsive replica of psgtech.edu, carousels, cards, floating chatbot widget with animated pulse 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59152"/>
            <a:ext cx="10698480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B4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04872"/>
            <a:ext cx="10332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B4BAB"/>
                </a:solidFill>
                <a:latin typeface="Arial"/>
              </a:defRPr>
            </a:pPr>
            <a:r>
              <a:t>SERVER &amp; TEMPLATING:  Node.js &amp; Express.js, EJS (Embedded JavaScript)</a:t>
            </a:r>
          </a:p>
          <a:p>
            <a:pPr>
              <a:defRPr sz="1050">
                <a:solidFill>
                  <a:srgbClr val="212529"/>
                </a:solidFill>
                <a:latin typeface="Arial"/>
              </a:defRPr>
            </a:pPr>
            <a:r>
              <a:t>• Asynchronous server script, modular MVC routing, reusable EJS partials (header.ejs, footer.ejs, chatbot.ejs).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46704"/>
            <a:ext cx="10698480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B4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92424"/>
            <a:ext cx="10332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B4BAB"/>
                </a:solidFill>
                <a:latin typeface="Arial"/>
              </a:defRPr>
            </a:pPr>
            <a:r>
              <a:t>SESSION &amp; PERSISTENCE:  Browser sessionStorage &amp; Express Sessions</a:t>
            </a:r>
          </a:p>
          <a:p>
            <a:pPr>
              <a:defRPr sz="1050">
                <a:solidFill>
                  <a:srgbClr val="212529"/>
                </a:solidFill>
                <a:latin typeface="Arial"/>
              </a:defRPr>
            </a:pPr>
            <a:r>
              <a:t>• Preserves chat history, user role, and active widget state across page reloads without database overhead.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34256"/>
            <a:ext cx="10698480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B4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79976"/>
            <a:ext cx="10332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B4BAB"/>
                </a:solidFill>
                <a:latin typeface="Arial"/>
              </a:defRPr>
            </a:pPr>
            <a:r>
              <a:t>DATABASE &amp; STORAGE:  MongoDB (Local Storage) &amp; MongoDB Compass</a:t>
            </a:r>
          </a:p>
          <a:p>
            <a:pPr>
              <a:defRPr sz="1050">
                <a:solidFill>
                  <a:srgbClr val="212529"/>
                </a:solidFill>
                <a:latin typeface="Arial"/>
              </a:defRPr>
            </a:pPr>
            <a:r>
              <a:t>• Mongoose ODM models storing query text, bot responses, user roles, status, and timestamps in 'psgnexus_db'.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21808"/>
            <a:ext cx="10698480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B4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367528"/>
            <a:ext cx="10332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B4BAB"/>
                </a:solidFill>
                <a:latin typeface="Arial"/>
              </a:defRPr>
            </a:pPr>
            <a:r>
              <a:t>AI / NLP ENGINE:  Built-in Campus Knowledge Base &amp; Google GenAI SDK</a:t>
            </a:r>
          </a:p>
          <a:p>
            <a:pPr>
              <a:defRPr sz="1050">
                <a:solidFill>
                  <a:srgbClr val="212529"/>
                </a:solidFill>
                <a:latin typeface="Arial"/>
              </a:defRPr>
            </a:pPr>
            <a:r>
              <a:t>• 50+ offline PSG Tech topics with keyword scoring; optional Gemini 1.5 Flash API for natural answering.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94B"/>
          </a:solidFill>
          <a:ln w="317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5A059"/>
                </a:solidFill>
                <a:latin typeface="Arial"/>
              </a:defRPr>
            </a:pPr>
            <a:r>
              <a:t>PSG COLLEGE OF TECHNOLOGY • DEPARTMENT OF COMPUTER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Major Entities Involved in the Proposed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94B"/>
          </a:solidFill>
          <a:ln>
            <a:solidFill>
              <a:srgbClr val="1B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26MX17 WEB APPLICATION DEVELOPMENT • REVIEW 1 • TEAM 1 (PSG NEXUS)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800"/>
              </a:spcBef>
              <a:defRPr sz="1300" b="1">
                <a:solidFill>
                  <a:srgbClr val="2B4BAB"/>
                </a:solidFill>
                <a:latin typeface="Arial"/>
              </a:defRPr>
            </a:pPr>
            <a:r>
              <a:t>• STUDENT (26MX Roll No, Dept)</a:t>
            </a:r>
          </a:p>
          <a:p>
            <a:pPr>
              <a:defRPr sz="1100">
                <a:solidFill>
                  <a:srgbClr val="212529"/>
                </a:solidFill>
                <a:latin typeface="Arial"/>
              </a:defRPr>
            </a:pPr>
            <a:r>
              <a:t>   Role &amp; Access: Default active role in PSG Nexus. Accesses attendance criteria (75%), CAT continuous assessment marks, CGPA calculations, syllabus downloads, hostel rules, and online form submissions.</a:t>
            </a:r>
          </a:p>
          <a:p>
            <a:pPr>
              <a:spcBef>
                <a:spcPts val="800"/>
              </a:spcBef>
              <a:defRPr sz="1300" b="1">
                <a:solidFill>
                  <a:srgbClr val="2B4BAB"/>
                </a:solidFill>
                <a:latin typeface="Arial"/>
              </a:defRPr>
            </a:pPr>
            <a:r>
              <a:t>• FACULTY / STAFF (Staff ID)</a:t>
            </a:r>
          </a:p>
          <a:p>
            <a:pPr>
              <a:defRPr sz="1100">
                <a:solidFill>
                  <a:srgbClr val="212529"/>
                </a:solidFill>
                <a:latin typeface="Arial"/>
              </a:defRPr>
            </a:pPr>
            <a:r>
              <a:t>   Role &amp; Access: Elevated administrative privileges. Accesses staff leave application forms, syllabus revision guidelines, and confidential academic council / department meeting records.</a:t>
            </a:r>
          </a:p>
          <a:p>
            <a:pPr>
              <a:spcBef>
                <a:spcPts val="800"/>
              </a:spcBef>
              <a:defRPr sz="1300" b="1">
                <a:solidFill>
                  <a:srgbClr val="2B4BAB"/>
                </a:solidFill>
                <a:latin typeface="Arial"/>
              </a:defRPr>
            </a:pPr>
            <a:r>
              <a:t>• PARENT &amp; PROSPECTIVE STUDENT</a:t>
            </a:r>
          </a:p>
          <a:p>
            <a:pPr>
              <a:defRPr sz="1100">
                <a:solidFill>
                  <a:srgbClr val="212529"/>
                </a:solidFill>
                <a:latin typeface="Arial"/>
              </a:defRPr>
            </a:pPr>
            <a:r>
              <a:t>   Role &amp; Access: Focuses on institutional credentials. Accesses tuition fee structures, TNEA cutoff marks, hostel warden phone numbers, and admission eligibility guidelines.</a:t>
            </a:r>
          </a:p>
          <a:p>
            <a:pPr>
              <a:spcBef>
                <a:spcPts val="800"/>
              </a:spcBef>
              <a:defRPr sz="1300" b="1">
                <a:solidFill>
                  <a:srgbClr val="2B4BAB"/>
                </a:solidFill>
                <a:latin typeface="Arial"/>
              </a:defRPr>
            </a:pPr>
            <a:r>
              <a:t>• VISITOR &amp; ALUMNI</a:t>
            </a:r>
          </a:p>
          <a:p>
            <a:pPr>
              <a:defRPr sz="1100">
                <a:solidFill>
                  <a:srgbClr val="212529"/>
                </a:solidFill>
                <a:latin typeface="Arial"/>
              </a:defRPr>
            </a:pPr>
            <a:r>
              <a:t>   Role &amp; Access: Explores public institutional facts. Accesses campus travel directions, G.R.D. Memorial Library details, NIRF rankings, and alumni network resources (Laudea).</a:t>
            </a:r>
          </a:p>
          <a:p>
            <a:pPr>
              <a:spcBef>
                <a:spcPts val="800"/>
              </a:spcBef>
              <a:defRPr sz="1300" b="1">
                <a:solidFill>
                  <a:srgbClr val="2B4BAB"/>
                </a:solidFill>
                <a:latin typeface="Arial"/>
              </a:defRPr>
            </a:pPr>
            <a:r>
              <a:t>• CAMPUS ADMINISTRATOR</a:t>
            </a:r>
          </a:p>
          <a:p>
            <a:pPr>
              <a:defRPr sz="1100">
                <a:solidFill>
                  <a:srgbClr val="212529"/>
                </a:solidFill>
                <a:latin typeface="Arial"/>
              </a:defRPr>
            </a:pPr>
            <a:r>
              <a:t>   Role &amp; Access: Monitors interaction analytics via MongoDB Compass. Tracks frequently searched student queries to identify information gaps and update circulars.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94B"/>
          </a:solidFill>
          <a:ln w="317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5A059"/>
                </a:solidFill>
                <a:latin typeface="Arial"/>
              </a:defRPr>
            </a:pPr>
            <a:r>
              <a:t>PSG COLLEGE OF TECHNOLOGY • DEPARTMENT OF COMPUTER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Major Functionalities of the System (Review 1 Deliverables)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94B"/>
          </a:solidFill>
          <a:ln>
            <a:solidFill>
              <a:srgbClr val="1B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26MX17 WEB APPLICATION DEVELOPMENT • REVIEW 1 • TEAM 1 (PSG NEXUS)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700"/>
              </a:spcBef>
              <a:defRPr sz="1150">
                <a:solidFill>
                  <a:srgbClr val="212529"/>
                </a:solidFill>
                <a:latin typeface="Arial"/>
              </a:defRPr>
            </a:pPr>
            <a:r>
              <a:t>• 1. Official Website Replica (&gt;90% Match):  Replicated top utility bar with news marquee, official logos (75 &amp; 100 yrs), royal blue navigation header (#2B4BAB), hero carousel, portal tiles, and 4-column footer.</a:t>
            </a:r>
          </a:p>
          <a:p>
            <a:pPr>
              <a:spcBef>
                <a:spcPts val="700"/>
              </a:spcBef>
              <a:defRPr sz="1150">
                <a:solidFill>
                  <a:srgbClr val="212529"/>
                </a:solidFill>
                <a:latin typeface="Arial"/>
              </a:defRPr>
            </a:pPr>
            <a:r>
              <a:t>• 2. Bottom-Left Assistant Widget:  Embedded floating AI launcher in the bottom-left corner with glowing cyber-cyan ring (#38BDF8) and active 'STUDENT' default role.</a:t>
            </a:r>
          </a:p>
          <a:p>
            <a:pPr>
              <a:spcBef>
                <a:spcPts val="700"/>
              </a:spcBef>
              <a:defRPr sz="1150">
                <a:solidFill>
                  <a:srgbClr val="212529"/>
                </a:solidFill>
                <a:latin typeface="Arial"/>
              </a:defRPr>
            </a:pPr>
            <a:r>
              <a:t>• 3. Multi-Page Redirection Engine:  Automatically redirects users to specific routes (e.g., /forms or /academics) upon verbal request with an animated 2-second countdown.</a:t>
            </a:r>
          </a:p>
          <a:p>
            <a:pPr>
              <a:spcBef>
                <a:spcPts val="700"/>
              </a:spcBef>
              <a:defRPr sz="1150">
                <a:solidFill>
                  <a:srgbClr val="212529"/>
                </a:solidFill>
                <a:latin typeface="Arial"/>
              </a:defRPr>
            </a:pPr>
            <a:r>
              <a:t>• 4. Cross-Page Session Continuity:  Utilizes browser sessionStorage to keep the chat window open and preserve all conversation history across page navigation.</a:t>
            </a:r>
          </a:p>
          <a:p>
            <a:pPr>
              <a:spcBef>
                <a:spcPts val="700"/>
              </a:spcBef>
              <a:defRPr sz="1150">
                <a:solidFill>
                  <a:srgbClr val="212529"/>
                </a:solidFill>
                <a:latin typeface="Arial"/>
              </a:defRPr>
            </a:pPr>
            <a:r>
              <a:t>• 5. Out-of-Scope Boundary Guardrail:  Scans incoming queries for non-college topics (movies, cricket, gaming) and responds with polite institutional boundary notices.</a:t>
            </a:r>
          </a:p>
          <a:p>
            <a:pPr>
              <a:spcBef>
                <a:spcPts val="700"/>
              </a:spcBef>
              <a:defRPr sz="1150">
                <a:solidFill>
                  <a:srgbClr val="212529"/>
                </a:solidFill>
                <a:latin typeface="Arial"/>
              </a:defRPr>
            </a:pPr>
            <a:r>
              <a:t>• 6. Role-Based Document Access Control (RBAC):  Restricts confidential faculty meeting records and staff salary slips when queried by Students, but authorizes them for Faculty.</a:t>
            </a:r>
          </a:p>
          <a:p>
            <a:pPr>
              <a:spcBef>
                <a:spcPts val="700"/>
              </a:spcBef>
              <a:defRPr sz="1150">
                <a:solidFill>
                  <a:srgbClr val="212529"/>
                </a:solidFill>
                <a:latin typeface="Arial"/>
              </a:defRPr>
            </a:pPr>
            <a:r>
              <a:t>• 7. Local MongoDB Compass Storage:  Asynchronously records all conversations into local MongoDB (psgnexus_db.conversations) with browser endpoint verification.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94B"/>
          </a:solidFill>
          <a:ln w="317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5A059"/>
                </a:solidFill>
                <a:latin typeface="Arial"/>
              </a:defRPr>
            </a:pPr>
            <a:r>
              <a:t>PSG COLLEGE OF TECHNOLOGY • DEPARTMENT OF COMPUTER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Work Flow of the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94B"/>
          </a:solidFill>
          <a:ln>
            <a:solidFill>
              <a:srgbClr val="1B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26MX17 WEB APPLICATION DEVELOPMENT • REVIEW 1 • TEAM 1 (PSG NEXUS)</a:t>
            </a:r>
          </a:p>
        </p:txBody>
      </p:sp>
      <p:pic>
        <p:nvPicPr>
          <p:cNvPr id="7" name="Picture 6" descr="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6583680" cy="50474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1280160"/>
            <a:ext cx="3931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4BAB"/>
                </a:solidFill>
                <a:latin typeface="Arial"/>
              </a:defRPr>
            </a:pPr>
            <a:r>
              <a:t>WORKFLOW STAGES: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Arial"/>
              </a:defRPr>
            </a:pPr>
            <a:r>
              <a:t>• 1. User Access: Opens portal, launcher toggles chat.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Arial"/>
              </a:defRPr>
            </a:pPr>
            <a:r>
              <a:t>• 2. Role Identification: Default Student role verified.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Arial"/>
              </a:defRPr>
            </a:pPr>
            <a:r>
              <a:t>• 3. Boundary Filtering: Checks if query is college-related.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Arial"/>
              </a:defRPr>
            </a:pPr>
            <a:r>
              <a:t>• 4. Security Check: Evaluates document access permissions.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Arial"/>
              </a:defRPr>
            </a:pPr>
            <a:r>
              <a:t>• 5. Intent Matching: Checks if query requests page navigation.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Arial"/>
              </a:defRPr>
            </a:pPr>
            <a:r>
              <a:t>• 6. Query Answering: Fast lookup via local campus knowledge base or Gemini API.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Arial"/>
              </a:defRPr>
            </a:pPr>
            <a:r>
              <a:t>• 7. Dual Persistence: Writes document to MongoDB &amp; saves state in sessionStorage.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  <a:latin typeface="Arial"/>
              </a:defRPr>
            </a:pPr>
            <a:r>
              <a:t>• 8. Smooth Transition: Navigates page with open chat session.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94B"/>
          </a:solidFill>
          <a:ln w="317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5A059"/>
                </a:solidFill>
                <a:latin typeface="Arial"/>
              </a:defRPr>
            </a:pPr>
            <a:r>
              <a:t>PSG COLLEGE OF TECHNOLOGY • DEPARTMENT OF COMPUTER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BPMN Diagram of the Entire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94B"/>
          </a:solidFill>
          <a:ln>
            <a:solidFill>
              <a:srgbClr val="1B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26MX17 WEB APPLICATION DEVELOPMENT • REVIEW 1 • TEAM 1 (PSG NEXUS)</a:t>
            </a:r>
          </a:p>
        </p:txBody>
      </p:sp>
      <p:pic>
        <p:nvPicPr>
          <p:cNvPr id="7" name="Picture 6" descr="bpm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7498079" cy="406145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0" y="1280160"/>
            <a:ext cx="31089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B4BAB"/>
                </a:solidFill>
                <a:latin typeface="Arial"/>
              </a:defRPr>
            </a:pPr>
            <a:r>
              <a:t>3 SWIMLANES:</a:t>
            </a:r>
          </a:p>
          <a:p>
            <a:pPr>
              <a:spcBef>
                <a:spcPts val="800"/>
              </a:spcBef>
              <a:defRPr sz="1000">
                <a:solidFill>
                  <a:srgbClr val="212529"/>
                </a:solidFill>
                <a:latin typeface="Arial"/>
              </a:defRPr>
            </a:pPr>
            <a:r>
              <a:t>• User Lane: Interacts with portal, submits queries, and clicks quick prompt chips.</a:t>
            </a:r>
          </a:p>
          <a:p>
            <a:pPr>
              <a:spcBef>
                <a:spcPts val="800"/>
              </a:spcBef>
              <a:defRPr sz="1000">
                <a:solidFill>
                  <a:srgbClr val="212529"/>
                </a:solidFill>
                <a:latin typeface="Arial"/>
              </a:defRPr>
            </a:pPr>
            <a:r>
              <a:t>• Client UI Lane: Serializes chat history into sessionStorage and executes redirection timers.</a:t>
            </a:r>
          </a:p>
          <a:p>
            <a:pPr>
              <a:spcBef>
                <a:spcPts val="800"/>
              </a:spcBef>
              <a:defRPr sz="1000">
                <a:solidFill>
                  <a:srgbClr val="212529"/>
                </a:solidFill>
                <a:latin typeface="Arial"/>
              </a:defRPr>
            </a:pPr>
            <a:r>
              <a:t>• Express Server Lane: Evaluates guardrails, processes intent, generates answer, and logs to MongoDB.</a:t>
            </a:r>
          </a:p>
          <a:p>
            <a:pPr>
              <a:spcBef>
                <a:spcPts val="800"/>
              </a:spcBef>
              <a:defRPr sz="1000">
                <a:solidFill>
                  <a:srgbClr val="212529"/>
                </a:solidFill>
                <a:latin typeface="Arial"/>
              </a:defRPr>
            </a:pPr>
            <a:r>
              <a:t>• End Event: User lands on destination page with active assistant conversation.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94B"/>
          </a:solidFill>
          <a:ln w="317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5A059"/>
                </a:solidFill>
                <a:latin typeface="Arial"/>
              </a:defRPr>
            </a:pPr>
            <a:r>
              <a:t>PSG COLLEGE OF TECHNOLOGY • DEPARTMENT OF COMPUTER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UI Pages of the Complete Project (Running Prototype)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94B"/>
          </a:solidFill>
          <a:ln>
            <a:solidFill>
              <a:srgbClr val="1B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26MX17 WEB APPLICATION DEVELOPMENT • REVIEW 1 • TEAM 1 (PSG NEXUS)</a:t>
            </a:r>
          </a:p>
        </p:txBody>
      </p:sp>
      <p:pic>
        <p:nvPicPr>
          <p:cNvPr id="7" name="Picture 6" descr="screenshot1_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583680" cy="36904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303520"/>
            <a:ext cx="6583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B4BAB"/>
                </a:solidFill>
                <a:latin typeface="Arial"/>
              </a:defRPr>
            </a:pPr>
            <a:r>
              <a:t>• Figure A: Official PSG Tech Portal Replica with Bottom-Left Floating Launcher</a:t>
            </a:r>
          </a:p>
        </p:txBody>
      </p:sp>
      <p:pic>
        <p:nvPicPr>
          <p:cNvPr id="9" name="Picture 8" descr="screenshot2_assista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280160"/>
            <a:ext cx="3840480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89520" y="5577840"/>
            <a:ext cx="3840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B4BAB"/>
                </a:solidFill>
                <a:latin typeface="Arial"/>
              </a:defRPr>
            </a:pPr>
            <a:r>
              <a:t>• Figure B: Interactive Chatbot (Student Role, Quick Chips &amp; Redirection)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94B"/>
          </a:solidFill>
          <a:ln w="317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5A059"/>
                </a:solidFill>
                <a:latin typeface="Arial"/>
              </a:defRPr>
            </a:pPr>
            <a:r>
              <a:t>PSG COLLEGE OF TECHNOLOGY • DEPARTMENT OF COMPUTER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Timeline of the Project (8-Week Work Plan)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94B"/>
          </a:solidFill>
          <a:ln>
            <a:solidFill>
              <a:srgbClr val="1B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26MX17 WEB APPLICATION DEVELOPMENT • REVIEW 1 • TEAM 1 (PSG NEXUS)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1069848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B4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62456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12529"/>
                </a:solidFill>
                <a:latin typeface="Arial"/>
              </a:defRPr>
            </a:pPr>
            <a:r>
              <a:t>• WEEKS 1 - 2:  Requirement Gathering &amp; Architecture Design — Analyzed campus workflows, drafted WAD design document, set up Git repository in VS 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29967"/>
            <a:ext cx="1069848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B4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66543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12529"/>
                </a:solidFill>
                <a:latin typeface="Arial"/>
              </a:defRPr>
            </a:pPr>
            <a:r>
              <a:t>• WEEK 3:  Frontend Replica &amp; EJS Layout Modeling — Built psgtech.edu UI replica, responsive Bootstrap 5 components, and shared EJS partials.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34056"/>
            <a:ext cx="10698480" cy="658368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7063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B294B"/>
                </a:solidFill>
                <a:latin typeface="Arial"/>
              </a:defRPr>
            </a:pPr>
            <a:r>
              <a:t>• WEEK 4 (CURRENT):  REVIEW 1: 30% Workable Modules Completion — Persistent chatbot widget, auto-redirection engine, sessionStorage state, and local MongoDB Compass logging.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38144"/>
            <a:ext cx="1069848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B4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47472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12529"/>
                </a:solidFill>
                <a:latin typeface="Arial"/>
              </a:defRPr>
            </a:pPr>
            <a:r>
              <a:t>• WEEK 5:  Knowledge Base Expansion &amp; AI Optimization — Enhanced local knowledge base with 50+ topics, integrated Gemini 1.5 Flash SDK, and tuned guardrails.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42231"/>
            <a:ext cx="1069848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B4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78807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12529"/>
                </a:solidFill>
                <a:latin typeface="Arial"/>
              </a:defRPr>
            </a:pPr>
            <a:r>
              <a:t>• WEEK 6:  Online Services &amp; Digital Certificate Module — Functional Bonafide application, hostel pass generation, and duplicate hall ticket requisition workflow.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46319"/>
            <a:ext cx="1069848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B4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82895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12529"/>
                </a:solidFill>
                <a:latin typeface="Arial"/>
              </a:defRPr>
            </a:pPr>
            <a:r>
              <a:t>• WEEK 7:  Testing, Security Auditing &amp; RBAC Hardening — Cross-browser verification, mobile responsiveness testing, and security rule assessment.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550407"/>
            <a:ext cx="1069848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B4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586983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12529"/>
                </a:solidFill>
                <a:latin typeface="Arial"/>
              </a:defRPr>
            </a:pPr>
            <a:r>
              <a:t>• WEEK 8:  FINAL REVIEW: Deployment &amp; Documentation — Full platform demonstration, viva evaluation, work diary completion, and repository handoff.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94B"/>
          </a:solidFill>
          <a:ln w="317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5A059"/>
                </a:solidFill>
                <a:latin typeface="Arial"/>
              </a:defRPr>
            </a:pPr>
            <a:r>
              <a:t>PSG COLLEGE OF TECHNOLOGY • DEPARTMENT OF COMPUTER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Conclusion &amp; Review 1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94B"/>
          </a:solidFill>
          <a:ln>
            <a:solidFill>
              <a:srgbClr val="1B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26MX17 WEB APPLICATION DEVELOPMENT • REVIEW 1 • TEAM 1 (PSG NEXUS)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362895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400"/>
              </a:spcBef>
              <a:defRPr sz="1400">
                <a:solidFill>
                  <a:srgbClr val="212529"/>
                </a:solidFill>
                <a:latin typeface="Arial"/>
              </a:defRPr>
            </a:pPr>
            <a:r>
              <a:t>• Milestone Achieved: Successfully completed 30%+ workable modules for Review 1 strictly adhering to the WAD syllabus.</a:t>
            </a:r>
          </a:p>
          <a:p>
            <a:pPr>
              <a:spcBef>
                <a:spcPts val="1400"/>
              </a:spcBef>
              <a:defRPr sz="1400">
                <a:solidFill>
                  <a:srgbClr val="212529"/>
                </a:solidFill>
                <a:latin typeface="Arial"/>
              </a:defRPr>
            </a:pPr>
            <a:r>
              <a:t>• Syllabus-Compliant Stack: Built using Node.js, Express.js, EJS templates, Bootstrap 5.3, and local MongoDB Compass without external React overhead.</a:t>
            </a:r>
          </a:p>
          <a:p>
            <a:pPr>
              <a:spcBef>
                <a:spcPts val="1400"/>
              </a:spcBef>
              <a:defRPr sz="1400">
                <a:solidFill>
                  <a:srgbClr val="212529"/>
                </a:solidFill>
                <a:latin typeface="Arial"/>
              </a:defRPr>
            </a:pPr>
            <a:r>
              <a:t>• Continuous Navigation Solved: Overcame the traditional multi-page reset issue by coupling browser sessionStorage with automated redirection.</a:t>
            </a:r>
          </a:p>
          <a:p>
            <a:pPr>
              <a:spcBef>
                <a:spcPts val="1400"/>
              </a:spcBef>
              <a:defRPr sz="1400">
                <a:solidFill>
                  <a:srgbClr val="212529"/>
                </a:solidFill>
                <a:latin typeface="Arial"/>
              </a:defRPr>
            </a:pPr>
            <a:r>
              <a:t>• Security &amp; Integrity: Enforced role-based document authorization and strict campus boundary guardrails to protect institutional information.</a:t>
            </a:r>
          </a:p>
          <a:p>
            <a:pPr>
              <a:spcBef>
                <a:spcPts val="1400"/>
              </a:spcBef>
              <a:defRPr sz="1400">
                <a:solidFill>
                  <a:srgbClr val="212529"/>
                </a:solidFill>
                <a:latin typeface="Arial"/>
              </a:defRPr>
            </a:pPr>
            <a:r>
              <a:t>• Next Steps: Ready to proceed into Week 5 for automated certificate approvals and administrative analytics dashboard.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94B"/>
          </a:solidFill>
          <a:ln>
            <a:solidFill>
              <a:srgbClr val="1B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8696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B4BAB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defRPr sz="1800" b="1">
                <a:solidFill>
                  <a:srgbClr val="C5A059"/>
                </a:solidFill>
                <a:latin typeface="Arial"/>
              </a:defRPr>
            </a:pPr>
            <a:r>
              <a:t>Questions, Feedback &amp; Faculty Suggestions Welcome</a:t>
            </a:r>
          </a:p>
          <a:p>
            <a:pPr algn="ctr">
              <a:defRPr sz="1200">
                <a:solidFill>
                  <a:srgbClr val="6C757D"/>
                </a:solidFill>
                <a:latin typeface="Arial"/>
              </a:defRPr>
            </a:pPr>
            <a:br/>
            <a:r>
              <a:t>PSG NEXUS (CHAT-BOT) • TEAM 1</a:t>
            </a:r>
            <a:br/>
            <a:r>
              <a:t>Laxman B (26MX209) • Karthikeyan S (26MX110) • Mohamed Abdul Basith A A (26MX115)</a:t>
            </a:r>
            <a:br/>
            <a:r>
              <a:t>Guide: Ms. J. Gowri Thangam</a:t>
            </a:r>
          </a:p>
          <a:p>
            <a:pPr algn="ctr">
              <a:defRPr sz="1100" b="1">
                <a:solidFill>
                  <a:srgbClr val="2B4BAB"/>
                </a:solidFill>
                <a:latin typeface="Arial"/>
              </a:defRPr>
            </a:pPr>
            <a:br/>
            <a:r>
              <a:t>Project Repository: https://github.com/Abdul-Basith-AA/psgNEXUS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